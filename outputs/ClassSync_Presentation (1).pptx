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2" r:id="rId9"/>
    <p:sldId id="263" r:id="rId10"/>
    <p:sldId id="264" r:id="rId11"/>
    <p:sldId id="266" r:id="rId1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43ECCA-AFA6-FA14-7C75-F72B8DE56C0F}" v="98" dt="2026-06-30T02:23:44.650"/>
    <p1510:client id="{95B10EC1-E523-B8BC-37D8-4BD9D74281CB}" v="68" dt="2026-06-30T02:10:15.9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title>
      <c:tx>
        <c:rich>
          <a:bodyPr/>
          <a:lstStyle/>
          <a:p>
            <a:r>
              <a:rPr lang="en-US"/>
              <a:t>Prototype SUS scores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SUS score</c:v>
          </c:tx>
          <c:spPr>
            <a:solidFill>
              <a:srgbClr val="2563EB"/>
            </a:solidFill>
          </c:spPr>
          <c:invertIfNegative val="1"/>
          <c:dLbls>
            <c:delete val="1"/>
          </c:dLbls>
          <c:cat>
            <c:strLit>
              <c:ptCount val="3"/>
              <c:pt idx="0">
                <c:v>User X</c:v>
              </c:pt>
              <c:pt idx="1">
                <c:v>User Y</c:v>
              </c:pt>
              <c:pt idx="2">
                <c:v>User Z</c:v>
              </c:pt>
            </c:strLit>
          </c:cat>
          <c:val>
            <c:numLit>
              <c:formatCode>General</c:formatCode>
              <c:ptCount val="3"/>
              <c:pt idx="0">
                <c:v>95</c:v>
              </c:pt>
              <c:pt idx="1">
                <c:v>100</c:v>
              </c:pt>
              <c:pt idx="2">
                <c:v>92.5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0FC7-4922-8086-ECC1BF2E5A6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E5E7EB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D598C58-B9A3-4ED8-991C-7DB24AACC69B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7239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54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54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ClassSync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C443C01-4F73-42BC-9316-BEC7FBBD99EE}"/>
              </a:ext>
            </a:extLst>
          </p:cNvPr>
          <p:cNvSpPr>
            <a:spLocks noGrp="1"/>
          </p:cNvSpPr>
          <p:nvPr/>
        </p:nvSpPr>
        <p:spPr>
          <a:xfrm>
            <a:off x="723900" y="1771650"/>
            <a:ext cx="723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A calendar integration project for WWU students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6B0EFE-FF42-4B81-BD1A-5F390A162BAC}"/>
              </a:ext>
            </a:extLst>
          </p:cNvPr>
          <p:cNvSpPr>
            <a:spLocks noGrp="1"/>
          </p:cNvSpPr>
          <p:nvPr/>
        </p:nvSpPr>
        <p:spPr>
          <a:xfrm>
            <a:off x="723900" y="2343150"/>
            <a:ext cx="7048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algn="l"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endParaRPr lang="en-US" sz="1650" b="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8A043B0-5F0C-44E0-A2CC-47708A2EB59D}"/>
              </a:ext>
            </a:extLst>
          </p:cNvPr>
          <p:cNvSpPr>
            <a:spLocks noGrp="1"/>
          </p:cNvSpPr>
          <p:nvPr/>
        </p:nvSpPr>
        <p:spPr>
          <a:xfrm>
            <a:off x="8058150" y="742950"/>
            <a:ext cx="2971800" cy="4800600"/>
          </a:xfrm>
          <a:prstGeom prst="roundRect">
            <a:avLst>
              <a:gd name="adj" fmla="val 2564"/>
            </a:avLst>
          </a:prstGeom>
          <a:solidFill>
            <a:srgbClr val="EFF6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114BBA-8B75-4D6B-A80C-D945E7D5894C}"/>
              </a:ext>
            </a:extLst>
          </p:cNvPr>
          <p:cNvSpPr>
            <a:spLocks noGrp="1"/>
          </p:cNvSpPr>
          <p:nvPr/>
        </p:nvSpPr>
        <p:spPr>
          <a:xfrm>
            <a:off x="8420100" y="120015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Project focus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AB5D496-013D-4E3B-9290-162FB0CEFD5B}"/>
              </a:ext>
            </a:extLst>
          </p:cNvPr>
          <p:cNvSpPr>
            <a:spLocks noGrp="1"/>
          </p:cNvSpPr>
          <p:nvPr/>
        </p:nvSpPr>
        <p:spPr>
          <a:xfrm>
            <a:off x="8420100" y="2023836"/>
            <a:ext cx="95250" cy="9525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3A2892-FC13-4D7B-900B-24B3009C662F}"/>
              </a:ext>
            </a:extLst>
          </p:cNvPr>
          <p:cNvSpPr>
            <a:spLocks noGrp="1"/>
          </p:cNvSpPr>
          <p:nvPr/>
        </p:nvSpPr>
        <p:spPr>
          <a:xfrm>
            <a:off x="8648700" y="1715407"/>
            <a:ext cx="20193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Combine academic scheduling with students' existing calendar habits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7C93CE6-2AD7-402D-B470-37E536A769BA}"/>
              </a:ext>
            </a:extLst>
          </p:cNvPr>
          <p:cNvSpPr>
            <a:spLocks noGrp="1"/>
          </p:cNvSpPr>
          <p:nvPr/>
        </p:nvSpPr>
        <p:spPr>
          <a:xfrm>
            <a:off x="8420100" y="3043465"/>
            <a:ext cx="95250" cy="9525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7B4001-FD20-40D2-9021-3DD4002491D2}"/>
              </a:ext>
            </a:extLst>
          </p:cNvPr>
          <p:cNvSpPr>
            <a:spLocks noGrp="1"/>
          </p:cNvSpPr>
          <p:nvPr/>
        </p:nvSpPr>
        <p:spPr>
          <a:xfrm>
            <a:off x="8648700" y="2764064"/>
            <a:ext cx="20193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Reduce manual copying, screenshots, and missed dates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B69CCBE-5F76-443C-956C-0B50105D5A58}"/>
              </a:ext>
            </a:extLst>
          </p:cNvPr>
          <p:cNvSpPr>
            <a:spLocks noGrp="1"/>
          </p:cNvSpPr>
          <p:nvPr/>
        </p:nvSpPr>
        <p:spPr>
          <a:xfrm>
            <a:off x="8463643" y="3794579"/>
            <a:ext cx="95250" cy="9525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D82DDB-0B2B-4245-891A-7C35C846280C}"/>
              </a:ext>
            </a:extLst>
          </p:cNvPr>
          <p:cNvSpPr>
            <a:spLocks noGrp="1"/>
          </p:cNvSpPr>
          <p:nvPr/>
        </p:nvSpPr>
        <p:spPr>
          <a:xfrm>
            <a:off x="8648700" y="3486150"/>
            <a:ext cx="20193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Export schedule data as a portable .ics calendar file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556558B-7F9A-4453-8CD0-9E96B592555A}"/>
              </a:ext>
            </a:extLst>
          </p:cNvPr>
          <p:cNvSpPr>
            <a:spLocks noGrp="1"/>
          </p:cNvSpPr>
          <p:nvPr/>
        </p:nvSpPr>
        <p:spPr>
          <a:xfrm>
            <a:off x="723900" y="5753100"/>
            <a:ext cx="685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Team: Minnie Lee, Mitrasree Deb, Ryan Harang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444DA0C-EC82-4DE3-86E6-717D4657A3F0}"/>
              </a:ext>
            </a:extLst>
          </p:cNvPr>
          <p:cNvSpPr>
            <a:spLocks noGrp="1"/>
          </p:cNvSpPr>
          <p:nvPr/>
        </p:nvSpPr>
        <p:spPr>
          <a:xfrm>
            <a:off x="11068050" y="62865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CA3A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93870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8A63DB8F-C7CD-4A13-B363-5E3379F44913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CLASSSYNC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81229D4-04F4-4EEC-A742-541C84A5EA72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9525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Project Introduction: The Scheduling Gap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5846FD-28E9-4796-8D84-177567672459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10972800" cy="952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A2D863-DC9C-4E4F-AFD7-49FF86D6A2AD}"/>
              </a:ext>
            </a:extLst>
          </p:cNvPr>
          <p:cNvSpPr>
            <a:spLocks noGrp="1"/>
          </p:cNvSpPr>
          <p:nvPr/>
        </p:nvSpPr>
        <p:spPr>
          <a:xfrm>
            <a:off x="742950" y="1695450"/>
            <a:ext cx="723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Students manage school, assignments, and personal life across disconnected systems.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7CEA823-7424-4522-9DD4-DCAB0317B326}"/>
              </a:ext>
            </a:extLst>
          </p:cNvPr>
          <p:cNvSpPr>
            <a:spLocks noGrp="1"/>
          </p:cNvSpPr>
          <p:nvPr/>
        </p:nvSpPr>
        <p:spPr>
          <a:xfrm>
            <a:off x="876300" y="2533650"/>
            <a:ext cx="95250" cy="9525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85CE0D-AF2E-4CD6-A937-64AA3FDCC283}"/>
              </a:ext>
            </a:extLst>
          </p:cNvPr>
          <p:cNvSpPr>
            <a:spLocks noGrp="1"/>
          </p:cNvSpPr>
          <p:nvPr/>
        </p:nvSpPr>
        <p:spPr>
          <a:xfrm>
            <a:off x="1104900" y="2457450"/>
            <a:ext cx="66294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Canvas or LMS calendars track assignments, but not always class meeting schedules.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EB88961-1BA6-4B2D-BC57-76EA6FF1CE01}"/>
              </a:ext>
            </a:extLst>
          </p:cNvPr>
          <p:cNvSpPr>
            <a:spLocks noGrp="1"/>
          </p:cNvSpPr>
          <p:nvPr/>
        </p:nvSpPr>
        <p:spPr>
          <a:xfrm>
            <a:off x="876300" y="3219450"/>
            <a:ext cx="95250" cy="9525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022307-3329-4F01-A603-FB6F6469EC9A}"/>
              </a:ext>
            </a:extLst>
          </p:cNvPr>
          <p:cNvSpPr>
            <a:spLocks noGrp="1"/>
          </p:cNvSpPr>
          <p:nvPr/>
        </p:nvSpPr>
        <p:spPr>
          <a:xfrm>
            <a:off x="1104900" y="3143250"/>
            <a:ext cx="66294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Web4U shows course schedules, but students cannot easily export or merge them.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85BAFE1-FB09-4987-82E5-4CAC7372E32D}"/>
              </a:ext>
            </a:extLst>
          </p:cNvPr>
          <p:cNvSpPr>
            <a:spLocks noGrp="1"/>
          </p:cNvSpPr>
          <p:nvPr/>
        </p:nvSpPr>
        <p:spPr>
          <a:xfrm>
            <a:off x="876300" y="3905250"/>
            <a:ext cx="95250" cy="9525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5AE9AE3-E93C-4B94-9D3C-C19EA9CDD87A}"/>
              </a:ext>
            </a:extLst>
          </p:cNvPr>
          <p:cNvSpPr>
            <a:spLocks noGrp="1"/>
          </p:cNvSpPr>
          <p:nvPr/>
        </p:nvSpPr>
        <p:spPr>
          <a:xfrm>
            <a:off x="1104900" y="3829050"/>
            <a:ext cx="66294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Personal calendars such as Outlook, Google Calendar, and Apple Calendar remain separate.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F2551B8-E91C-471C-BEA2-4A1B524030CD}"/>
              </a:ext>
            </a:extLst>
          </p:cNvPr>
          <p:cNvSpPr>
            <a:spLocks noGrp="1"/>
          </p:cNvSpPr>
          <p:nvPr/>
        </p:nvSpPr>
        <p:spPr>
          <a:xfrm>
            <a:off x="8420100" y="1752600"/>
            <a:ext cx="2571750" cy="2476500"/>
          </a:xfrm>
          <a:prstGeom prst="roundRect">
            <a:avLst>
              <a:gd name="adj" fmla="val 3077"/>
            </a:avLst>
          </a:prstGeom>
          <a:solidFill>
            <a:srgbClr val="FFF7ED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D1F481-DDED-4FEB-A2F7-23C82A923A71}"/>
              </a:ext>
            </a:extLst>
          </p:cNvPr>
          <p:cNvSpPr>
            <a:spLocks noGrp="1"/>
          </p:cNvSpPr>
          <p:nvPr/>
        </p:nvSpPr>
        <p:spPr>
          <a:xfrm>
            <a:off x="8705850" y="2114550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97316"/>
                </a:solidFill>
                <a:latin typeface="Aptos"/>
                <a:ea typeface="Aptos"/>
                <a:cs typeface="Aptos"/>
              </a:rPr>
              <a:t>Design need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EF39113-19AA-48B8-8328-0084F8E9654C}"/>
              </a:ext>
            </a:extLst>
          </p:cNvPr>
          <p:cNvSpPr>
            <a:spLocks noGrp="1"/>
          </p:cNvSpPr>
          <p:nvPr/>
        </p:nvSpPr>
        <p:spPr>
          <a:xfrm>
            <a:off x="8705850" y="2724150"/>
            <a:ext cx="200025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One reliable way to move academic schedule events into a calendar students already use.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C2BC1C3-75E5-41AA-A25F-B3F79C269D9D}"/>
              </a:ext>
            </a:extLst>
          </p:cNvPr>
          <p:cNvSpPr>
            <a:spLocks noGrp="1"/>
          </p:cNvSpPr>
          <p:nvPr/>
        </p:nvSpPr>
        <p:spPr>
          <a:xfrm>
            <a:off x="11068050" y="62865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CA3A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78663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7B09BD74-D9BA-40EC-A117-1D1000A2CAA1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CLASSSYNC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EA4F6B2-8337-4FBD-A217-8BF82B02B329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9525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Interview Findings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C96B29-8DB3-4F82-8053-99C634C45FA0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10972800" cy="952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3C4313-336A-4E12-869F-52448B5BDBCB}"/>
              </a:ext>
            </a:extLst>
          </p:cNvPr>
          <p:cNvSpPr>
            <a:spLocks noGrp="1"/>
          </p:cNvSpPr>
          <p:nvPr/>
        </p:nvSpPr>
        <p:spPr>
          <a:xfrm>
            <a:off x="704850" y="1657350"/>
            <a:ext cx="9810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Need-finding interviews with WWU students showed a strong preference for one combined calendar view.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F135AA1-3801-4484-A729-FC755E532D89}"/>
              </a:ext>
            </a:extLst>
          </p:cNvPr>
          <p:cNvSpPr>
            <a:spLocks noGrp="1"/>
          </p:cNvSpPr>
          <p:nvPr/>
        </p:nvSpPr>
        <p:spPr>
          <a:xfrm>
            <a:off x="685800" y="2381250"/>
            <a:ext cx="2247900" cy="2514600"/>
          </a:xfrm>
          <a:prstGeom prst="roundRect">
            <a:avLst>
              <a:gd name="adj" fmla="val 3390"/>
            </a:avLst>
          </a:prstGeom>
          <a:solidFill>
            <a:srgbClr val="FFF7ED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7DA5275-0B57-4D72-B127-B2ABEEA7E792}"/>
              </a:ext>
            </a:extLst>
          </p:cNvPr>
          <p:cNvSpPr>
            <a:spLocks noGrp="1"/>
          </p:cNvSpPr>
          <p:nvPr/>
        </p:nvSpPr>
        <p:spPr>
          <a:xfrm>
            <a:off x="895350" y="2705100"/>
            <a:ext cx="1828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97316"/>
                </a:solidFill>
                <a:latin typeface="Aptos"/>
                <a:ea typeface="Aptos"/>
                <a:cs typeface="Aptos"/>
              </a:rPr>
              <a:t>Export friction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619FD3-6750-4FF4-8DC8-10A56C4B67A1}"/>
              </a:ext>
            </a:extLst>
          </p:cNvPr>
          <p:cNvSpPr>
            <a:spLocks noGrp="1"/>
          </p:cNvSpPr>
          <p:nvPr/>
        </p:nvSpPr>
        <p:spPr>
          <a:xfrm>
            <a:off x="895350" y="3314700"/>
            <a:ext cx="18288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Web4U schedules often become screenshots instead of reusable calendar data.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C249426-3E89-47A2-8EB7-D89BC3DA4A76}"/>
              </a:ext>
            </a:extLst>
          </p:cNvPr>
          <p:cNvSpPr>
            <a:spLocks noGrp="1"/>
          </p:cNvSpPr>
          <p:nvPr/>
        </p:nvSpPr>
        <p:spPr>
          <a:xfrm>
            <a:off x="3429000" y="2381250"/>
            <a:ext cx="2247900" cy="2514600"/>
          </a:xfrm>
          <a:prstGeom prst="roundRect">
            <a:avLst>
              <a:gd name="adj" fmla="val 3390"/>
            </a:avLst>
          </a:prstGeom>
          <a:solidFill>
            <a:srgbClr val="EFF6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5CF827D-787D-4161-A546-BBC1D7C0A290}"/>
              </a:ext>
            </a:extLst>
          </p:cNvPr>
          <p:cNvSpPr>
            <a:spLocks noGrp="1"/>
          </p:cNvSpPr>
          <p:nvPr/>
        </p:nvSpPr>
        <p:spPr>
          <a:xfrm>
            <a:off x="3638550" y="2705100"/>
            <a:ext cx="1828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Tool overload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27BC3F-C104-4B7B-BA38-4BD0AAC1E6CB}"/>
              </a:ext>
            </a:extLst>
          </p:cNvPr>
          <p:cNvSpPr>
            <a:spLocks noGrp="1"/>
          </p:cNvSpPr>
          <p:nvPr/>
        </p:nvSpPr>
        <p:spPr>
          <a:xfrm>
            <a:off x="3638550" y="3314700"/>
            <a:ext cx="18288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Students switch among Web4U, Canvas/Moodle, and personal calendars.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66371E0-7D51-4DEE-A25B-B457AECFD64D}"/>
              </a:ext>
            </a:extLst>
          </p:cNvPr>
          <p:cNvSpPr>
            <a:spLocks noGrp="1"/>
          </p:cNvSpPr>
          <p:nvPr/>
        </p:nvSpPr>
        <p:spPr>
          <a:xfrm>
            <a:off x="6172200" y="2381250"/>
            <a:ext cx="2247900" cy="2514600"/>
          </a:xfrm>
          <a:prstGeom prst="roundRect">
            <a:avLst>
              <a:gd name="adj" fmla="val 3390"/>
            </a:avLst>
          </a:prstGeom>
          <a:solidFill>
            <a:srgbClr val="ECFDF5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E3BAC35-8D74-483A-822B-9F2BC0FDA7CF}"/>
              </a:ext>
            </a:extLst>
          </p:cNvPr>
          <p:cNvSpPr>
            <a:spLocks noGrp="1"/>
          </p:cNvSpPr>
          <p:nvPr/>
        </p:nvSpPr>
        <p:spPr>
          <a:xfrm>
            <a:off x="6381750" y="2705100"/>
            <a:ext cx="1828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59669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59669"/>
                </a:solidFill>
                <a:latin typeface="Aptos"/>
                <a:ea typeface="Aptos"/>
                <a:cs typeface="Aptos"/>
              </a:rPr>
              <a:t>Weak quarter view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5A0673F-C19C-4BBF-AC0F-755CB6D86BA0}"/>
              </a:ext>
            </a:extLst>
          </p:cNvPr>
          <p:cNvSpPr>
            <a:spLocks noGrp="1"/>
          </p:cNvSpPr>
          <p:nvPr/>
        </p:nvSpPr>
        <p:spPr>
          <a:xfrm>
            <a:off x="6381750" y="3314700"/>
            <a:ext cx="18288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Weekly timetable views do not show the full quarter rhythm.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8FE1539-7363-468D-8180-C19923D609CC}"/>
              </a:ext>
            </a:extLst>
          </p:cNvPr>
          <p:cNvSpPr>
            <a:spLocks noGrp="1"/>
          </p:cNvSpPr>
          <p:nvPr/>
        </p:nvSpPr>
        <p:spPr>
          <a:xfrm>
            <a:off x="8915400" y="2381250"/>
            <a:ext cx="2247900" cy="2514600"/>
          </a:xfrm>
          <a:prstGeom prst="roundRect">
            <a:avLst>
              <a:gd name="adj" fmla="val 3390"/>
            </a:avLst>
          </a:prstGeom>
          <a:solidFill>
            <a:srgbClr val="FDF2F8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E1D4CA0-3D86-4B3D-8B4F-BAC7E66C88C8}"/>
              </a:ext>
            </a:extLst>
          </p:cNvPr>
          <p:cNvSpPr>
            <a:spLocks noGrp="1"/>
          </p:cNvSpPr>
          <p:nvPr/>
        </p:nvSpPr>
        <p:spPr>
          <a:xfrm>
            <a:off x="9124950" y="2705100"/>
            <a:ext cx="1828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BE185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BE185D"/>
                </a:solidFill>
                <a:latin typeface="Aptos"/>
                <a:ea typeface="Aptos"/>
                <a:cs typeface="Aptos"/>
              </a:rPr>
              <a:t>LMS reliance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F9C4A2-3B1E-4FE7-AEA6-81D975EE0F0C}"/>
              </a:ext>
            </a:extLst>
          </p:cNvPr>
          <p:cNvSpPr>
            <a:spLocks noGrp="1"/>
          </p:cNvSpPr>
          <p:nvPr/>
        </p:nvSpPr>
        <p:spPr>
          <a:xfrm>
            <a:off x="9124950" y="3314700"/>
            <a:ext cx="18288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Students value LMS calendars, but want more consistency and customization.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2E32388-ADEF-4964-AFA6-F7C4AA5D861C}"/>
              </a:ext>
            </a:extLst>
          </p:cNvPr>
          <p:cNvSpPr>
            <a:spLocks noGrp="1"/>
          </p:cNvSpPr>
          <p:nvPr/>
        </p:nvSpPr>
        <p:spPr>
          <a:xfrm>
            <a:off x="876300" y="5505450"/>
            <a:ext cx="781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Design implication: make calendar export obvious, guided, and lightweight.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943A282-A9C5-41FD-AB1A-AC2F65EEB419}"/>
              </a:ext>
            </a:extLst>
          </p:cNvPr>
          <p:cNvSpPr>
            <a:spLocks noGrp="1"/>
          </p:cNvSpPr>
          <p:nvPr/>
        </p:nvSpPr>
        <p:spPr>
          <a:xfrm>
            <a:off x="11068050" y="62865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CA3A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33993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77FA750-749C-47FC-A03D-5FAE766BC008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CLASSSYNC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CDC7CB-A74C-4C19-9959-18A7D75C016A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9525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Design Goals From Research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D4CD718-CBFE-4ECC-A382-1C9E45D34946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10972800" cy="952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553E059-D855-4827-900A-CF950A3263A9}"/>
              </a:ext>
            </a:extLst>
          </p:cNvPr>
          <p:cNvSpPr>
            <a:spLocks noGrp="1"/>
          </p:cNvSpPr>
          <p:nvPr/>
        </p:nvSpPr>
        <p:spPr>
          <a:xfrm>
            <a:off x="781050" y="2000250"/>
            <a:ext cx="2095500" cy="590550"/>
          </a:xfrm>
          <a:prstGeom prst="roundRect">
            <a:avLst>
              <a:gd name="adj" fmla="val 12903"/>
            </a:avLst>
          </a:prstGeom>
          <a:solidFill>
            <a:srgbClr val="EFF6FF"/>
          </a:solidFill>
          <a:ln w="0">
            <a:solidFill>
              <a:srgbClr val="EFF6FF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0710B1-D04F-416E-8189-C6B4EB7A64F7}"/>
              </a:ext>
            </a:extLst>
          </p:cNvPr>
          <p:cNvSpPr>
            <a:spLocks noGrp="1"/>
          </p:cNvSpPr>
          <p:nvPr/>
        </p:nvSpPr>
        <p:spPr>
          <a:xfrm>
            <a:off x="914400" y="2095500"/>
            <a:ext cx="18288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Simple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133863D-88FD-4AB4-BF26-698BD0EFDAC2}"/>
              </a:ext>
            </a:extLst>
          </p:cNvPr>
          <p:cNvSpPr>
            <a:spLocks noGrp="1"/>
          </p:cNvSpPr>
          <p:nvPr/>
        </p:nvSpPr>
        <p:spPr>
          <a:xfrm>
            <a:off x="781050" y="3028950"/>
            <a:ext cx="2095500" cy="590550"/>
          </a:xfrm>
          <a:prstGeom prst="roundRect">
            <a:avLst>
              <a:gd name="adj" fmla="val 12903"/>
            </a:avLst>
          </a:prstGeom>
          <a:solidFill>
            <a:srgbClr val="ECFDF5"/>
          </a:solidFill>
          <a:ln w="0">
            <a:solidFill>
              <a:srgbClr val="ECFDF5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6EA008-904B-4B18-9A42-D068F0EA3F3B}"/>
              </a:ext>
            </a:extLst>
          </p:cNvPr>
          <p:cNvSpPr>
            <a:spLocks noGrp="1"/>
          </p:cNvSpPr>
          <p:nvPr/>
        </p:nvSpPr>
        <p:spPr>
          <a:xfrm>
            <a:off x="914400" y="3124200"/>
            <a:ext cx="18288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5966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59669"/>
                </a:solidFill>
                <a:latin typeface="Aptos"/>
                <a:ea typeface="Aptos"/>
                <a:cs typeface="Aptos"/>
              </a:rPr>
              <a:t>Flexible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86C79DE-165E-44EA-866F-74A86264FC8F}"/>
              </a:ext>
            </a:extLst>
          </p:cNvPr>
          <p:cNvSpPr>
            <a:spLocks noGrp="1"/>
          </p:cNvSpPr>
          <p:nvPr/>
        </p:nvSpPr>
        <p:spPr>
          <a:xfrm>
            <a:off x="781050" y="4057650"/>
            <a:ext cx="2095500" cy="590550"/>
          </a:xfrm>
          <a:prstGeom prst="roundRect">
            <a:avLst>
              <a:gd name="adj" fmla="val 12903"/>
            </a:avLst>
          </a:prstGeom>
          <a:solidFill>
            <a:srgbClr val="FFF7ED"/>
          </a:solidFill>
          <a:ln w="0">
            <a:solidFill>
              <a:srgbClr val="FFF7ED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1688019-5582-44AF-A1BA-822B03B5735F}"/>
              </a:ext>
            </a:extLst>
          </p:cNvPr>
          <p:cNvSpPr>
            <a:spLocks noGrp="1"/>
          </p:cNvSpPr>
          <p:nvPr/>
        </p:nvSpPr>
        <p:spPr>
          <a:xfrm>
            <a:off x="914400" y="4152900"/>
            <a:ext cx="18288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97316"/>
                </a:solidFill>
                <a:latin typeface="Aptos"/>
                <a:ea typeface="Aptos"/>
                <a:cs typeface="Aptos"/>
              </a:rPr>
              <a:t>Error-tolerant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B42A7D-DD68-43B6-AE7F-416553C7F6D5}"/>
              </a:ext>
            </a:extLst>
          </p:cNvPr>
          <p:cNvSpPr>
            <a:spLocks noGrp="1"/>
          </p:cNvSpPr>
          <p:nvPr/>
        </p:nvSpPr>
        <p:spPr>
          <a:xfrm>
            <a:off x="3238500" y="2057400"/>
            <a:ext cx="7048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Single-page flow with clear actions and no unnecessary navigation.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0CBEF31-43B5-44A1-9E8E-E12FAE27A654}"/>
              </a:ext>
            </a:extLst>
          </p:cNvPr>
          <p:cNvSpPr>
            <a:spLocks noGrp="1"/>
          </p:cNvSpPr>
          <p:nvPr/>
        </p:nvSpPr>
        <p:spPr>
          <a:xfrm>
            <a:off x="3238500" y="3086100"/>
            <a:ext cx="7429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Desktop and mobile-friendly display, with output usable in multiple calendar apps.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384672F-7C24-4775-9814-63C1D1329861}"/>
              </a:ext>
            </a:extLst>
          </p:cNvPr>
          <p:cNvSpPr>
            <a:spLocks noGrp="1"/>
          </p:cNvSpPr>
          <p:nvPr/>
        </p:nvSpPr>
        <p:spPr>
          <a:xfrm>
            <a:off x="3238500" y="4114800"/>
            <a:ext cx="7429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Descriptive messages for wrong file type, parsing issues, missing token, or empty events.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1D59443-18D7-4A1A-BB10-0328316D20FE}"/>
              </a:ext>
            </a:extLst>
          </p:cNvPr>
          <p:cNvSpPr>
            <a:spLocks noGrp="1"/>
          </p:cNvSpPr>
          <p:nvPr/>
        </p:nvSpPr>
        <p:spPr>
          <a:xfrm>
            <a:off x="1047750" y="5410200"/>
            <a:ext cx="9334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Universal design principles guided the prototype: equitable use, perceptible information, low cognitive load, and adequate screen space.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B67EA3A-7267-46F3-8C8C-E1BEF65E283B}"/>
              </a:ext>
            </a:extLst>
          </p:cNvPr>
          <p:cNvSpPr>
            <a:spLocks noGrp="1"/>
          </p:cNvSpPr>
          <p:nvPr/>
        </p:nvSpPr>
        <p:spPr>
          <a:xfrm>
            <a:off x="11068050" y="62865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CA3A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261223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870A9DB-C508-4327-981B-1A18A34A77B5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CLASSSYNC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9DC8780-2EB5-4782-A762-7B5463E540CB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9525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30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Prototype: </a:t>
            </a:r>
            <a:r>
              <a:rPr lang="en-US" sz="30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Early Decisions</a:t>
            </a:r>
            <a:endParaRPr sz="3000" b="1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EE3CC7-DEBA-4626-84EB-77D6FE2BF575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10972800" cy="952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983C9A-FC95-4F00-9126-C52397104B3F}"/>
              </a:ext>
            </a:extLst>
          </p:cNvPr>
          <p:cNvSpPr>
            <a:spLocks noGrp="1"/>
          </p:cNvSpPr>
          <p:nvPr/>
        </p:nvSpPr>
        <p:spPr>
          <a:xfrm>
            <a:off x="5257800" y="1809750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Early decisions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8F71993-DC3A-4A2A-A8A3-45FAC3F27F9C}"/>
              </a:ext>
            </a:extLst>
          </p:cNvPr>
          <p:cNvSpPr>
            <a:spLocks noGrp="1"/>
          </p:cNvSpPr>
          <p:nvPr/>
        </p:nvSpPr>
        <p:spPr>
          <a:xfrm>
            <a:off x="5429250" y="2495550"/>
            <a:ext cx="95250" cy="9525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474ACED-6DC4-4C5B-B55F-77DAA7E99A71}"/>
              </a:ext>
            </a:extLst>
          </p:cNvPr>
          <p:cNvSpPr>
            <a:spLocks noGrp="1"/>
          </p:cNvSpPr>
          <p:nvPr/>
        </p:nvSpPr>
        <p:spPr>
          <a:xfrm>
            <a:off x="5657850" y="2419350"/>
            <a:ext cx="5105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The team explored multiple low-fidelity designs, then converged on one ordered flow.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F87932D-4275-48ED-AFE3-E10246921D75}"/>
              </a:ext>
            </a:extLst>
          </p:cNvPr>
          <p:cNvSpPr>
            <a:spLocks noGrp="1"/>
          </p:cNvSpPr>
          <p:nvPr/>
        </p:nvSpPr>
        <p:spPr>
          <a:xfrm>
            <a:off x="5429250" y="3219450"/>
            <a:ext cx="95250" cy="9525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216552-1719-4701-8526-4A9BDD2576AB}"/>
              </a:ext>
            </a:extLst>
          </p:cNvPr>
          <p:cNvSpPr>
            <a:spLocks noGrp="1"/>
          </p:cNvSpPr>
          <p:nvPr/>
        </p:nvSpPr>
        <p:spPr>
          <a:xfrm>
            <a:off x="5657850" y="3143250"/>
            <a:ext cx="5105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Instructions moved onto the main page instead of a separate manual page.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59AA338-30E6-4106-BD54-25423A18D9C4}"/>
              </a:ext>
            </a:extLst>
          </p:cNvPr>
          <p:cNvSpPr>
            <a:spLocks noGrp="1"/>
          </p:cNvSpPr>
          <p:nvPr/>
        </p:nvSpPr>
        <p:spPr>
          <a:xfrm>
            <a:off x="5429250" y="3943350"/>
            <a:ext cx="95250" cy="9525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F665024-98A8-483D-9809-AA5746A1C1A6}"/>
              </a:ext>
            </a:extLst>
          </p:cNvPr>
          <p:cNvSpPr>
            <a:spLocks noGrp="1"/>
          </p:cNvSpPr>
          <p:nvPr/>
        </p:nvSpPr>
        <p:spPr>
          <a:xfrm>
            <a:off x="5657850" y="3867150"/>
            <a:ext cx="5105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The design favored a web app over a browser extension for easier mobile and desktop access.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6592AF-7BFE-48FE-B333-AE3E9C572234}"/>
              </a:ext>
            </a:extLst>
          </p:cNvPr>
          <p:cNvSpPr>
            <a:spLocks noGrp="1"/>
          </p:cNvSpPr>
          <p:nvPr/>
        </p:nvSpPr>
        <p:spPr>
          <a:xfrm>
            <a:off x="11068050" y="62865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CA3A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pic>
        <p:nvPicPr>
          <p:cNvPr id="13" name="Picture 12" descr="A diagram of a student login&#10;&#10;AI-generated content may be incorrect.">
            <a:extLst>
              <a:ext uri="{FF2B5EF4-FFF2-40B4-BE49-F238E27FC236}">
                <a16:creationId xmlns:a16="http://schemas.microsoft.com/office/drawing/2014/main" id="{5BCB6AF9-6B03-27B1-B9B8-55F587E89D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6936" y="1809070"/>
            <a:ext cx="5524500" cy="3457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899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9452E4B-28E6-4F64-A7E6-E9A50F155A69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CLASSSYNC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4107792-E949-441E-B960-4C4DA6BE74F9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9525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Prototype Walkthrough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AFD8C1E-AF27-4D40-B46B-6EF8CC147F61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10972800" cy="952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2397E6-7CA5-4694-9EE3-2482D63E8F9C}"/>
              </a:ext>
            </a:extLst>
          </p:cNvPr>
          <p:cNvSpPr>
            <a:spLocks noGrp="1"/>
          </p:cNvSpPr>
          <p:nvPr/>
        </p:nvSpPr>
        <p:spPr>
          <a:xfrm>
            <a:off x="8134350" y="18097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Core flow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73398A9-1EFD-4AFF-B192-170EA6E14612}"/>
              </a:ext>
            </a:extLst>
          </p:cNvPr>
          <p:cNvSpPr>
            <a:spLocks noGrp="1"/>
          </p:cNvSpPr>
          <p:nvPr/>
        </p:nvSpPr>
        <p:spPr>
          <a:xfrm>
            <a:off x="8305800" y="2438400"/>
            <a:ext cx="95250" cy="9525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E1E28E-D5B9-4A03-878F-8957BC8A3F07}"/>
              </a:ext>
            </a:extLst>
          </p:cNvPr>
          <p:cNvSpPr>
            <a:spLocks noGrp="1"/>
          </p:cNvSpPr>
          <p:nvPr/>
        </p:nvSpPr>
        <p:spPr>
          <a:xfrm>
            <a:off x="8534400" y="2362200"/>
            <a:ext cx="2247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Read instructions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7FC07B3-14AB-4C5B-99BC-4952C2AC8E2E}"/>
              </a:ext>
            </a:extLst>
          </p:cNvPr>
          <p:cNvSpPr>
            <a:spLocks noGrp="1"/>
          </p:cNvSpPr>
          <p:nvPr/>
        </p:nvSpPr>
        <p:spPr>
          <a:xfrm>
            <a:off x="8305800" y="2952750"/>
            <a:ext cx="95250" cy="9525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AB298C-382C-4935-8D27-14390D658CAC}"/>
              </a:ext>
            </a:extLst>
          </p:cNvPr>
          <p:cNvSpPr>
            <a:spLocks noGrp="1"/>
          </p:cNvSpPr>
          <p:nvPr/>
        </p:nvSpPr>
        <p:spPr>
          <a:xfrm>
            <a:off x="8534400" y="2876550"/>
            <a:ext cx="2247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Upload schedule PDF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CA2F139-9172-4893-9E14-C08A5D6A891E}"/>
              </a:ext>
            </a:extLst>
          </p:cNvPr>
          <p:cNvSpPr>
            <a:spLocks noGrp="1"/>
          </p:cNvSpPr>
          <p:nvPr/>
        </p:nvSpPr>
        <p:spPr>
          <a:xfrm>
            <a:off x="8305800" y="3467100"/>
            <a:ext cx="95250" cy="9525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2A9C217-E115-412E-B363-57C25EAB7D09}"/>
              </a:ext>
            </a:extLst>
          </p:cNvPr>
          <p:cNvSpPr>
            <a:spLocks noGrp="1"/>
          </p:cNvSpPr>
          <p:nvPr/>
        </p:nvSpPr>
        <p:spPr>
          <a:xfrm>
            <a:off x="8534400" y="3390900"/>
            <a:ext cx="2247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Generate calendar data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AED6CB3-CB32-483B-8409-F163E8370560}"/>
              </a:ext>
            </a:extLst>
          </p:cNvPr>
          <p:cNvSpPr>
            <a:spLocks noGrp="1"/>
          </p:cNvSpPr>
          <p:nvPr/>
        </p:nvSpPr>
        <p:spPr>
          <a:xfrm>
            <a:off x="8305800" y="3981450"/>
            <a:ext cx="95250" cy="9525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9DFEE5B-7F0A-406E-A81C-B7B9D96C9300}"/>
              </a:ext>
            </a:extLst>
          </p:cNvPr>
          <p:cNvSpPr>
            <a:spLocks noGrp="1"/>
          </p:cNvSpPr>
          <p:nvPr/>
        </p:nvSpPr>
        <p:spPr>
          <a:xfrm>
            <a:off x="8534400" y="3905250"/>
            <a:ext cx="2247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Download .ics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1FE87A7-D4E8-416D-B8E9-0674A17C42EA}"/>
              </a:ext>
            </a:extLst>
          </p:cNvPr>
          <p:cNvSpPr>
            <a:spLocks noGrp="1"/>
          </p:cNvSpPr>
          <p:nvPr/>
        </p:nvSpPr>
        <p:spPr>
          <a:xfrm>
            <a:off x="8305800" y="4495800"/>
            <a:ext cx="95250" cy="9525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3D380E4-1902-443F-8A7B-5F6ACC7A2D82}"/>
              </a:ext>
            </a:extLst>
          </p:cNvPr>
          <p:cNvSpPr>
            <a:spLocks noGrp="1"/>
          </p:cNvSpPr>
          <p:nvPr/>
        </p:nvSpPr>
        <p:spPr>
          <a:xfrm>
            <a:off x="8534400" y="4419600"/>
            <a:ext cx="2247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Preview or import schedule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DEAFE4D-1E86-41C3-B3D5-37685056B364}"/>
              </a:ext>
            </a:extLst>
          </p:cNvPr>
          <p:cNvSpPr>
            <a:spLocks noGrp="1"/>
          </p:cNvSpPr>
          <p:nvPr/>
        </p:nvSpPr>
        <p:spPr>
          <a:xfrm>
            <a:off x="11068050" y="62865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CA3A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F956284-8CAE-6E6B-7339-C35184D619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373" y="1353685"/>
            <a:ext cx="5160282" cy="515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867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488C476-356B-4AFE-B064-81833AA91A39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CLASSSYNC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12BB34-EF12-4900-A941-29374FB17997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9525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Evaluation Plan and Metrics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4EF529-9978-446E-A498-1D351F28C156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10972800" cy="952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EB5FFA-CCBA-4A4D-94F3-A0F6AA7ABAA9}"/>
              </a:ext>
            </a:extLst>
          </p:cNvPr>
          <p:cNvSpPr>
            <a:spLocks noGrp="1"/>
          </p:cNvSpPr>
          <p:nvPr/>
        </p:nvSpPr>
        <p:spPr>
          <a:xfrm>
            <a:off x="819150" y="180975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Usability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46D2C1E-A536-4BF5-A131-3EAB7EA0A66B}"/>
              </a:ext>
            </a:extLst>
          </p:cNvPr>
          <p:cNvSpPr>
            <a:spLocks noGrp="1"/>
          </p:cNvSpPr>
          <p:nvPr/>
        </p:nvSpPr>
        <p:spPr>
          <a:xfrm>
            <a:off x="952500" y="2457450"/>
            <a:ext cx="95250" cy="9525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D8090B-30CA-4CAC-B11B-B89893304B52}"/>
              </a:ext>
            </a:extLst>
          </p:cNvPr>
          <p:cNvSpPr>
            <a:spLocks noGrp="1"/>
          </p:cNvSpPr>
          <p:nvPr/>
        </p:nvSpPr>
        <p:spPr>
          <a:xfrm>
            <a:off x="1181100" y="2381250"/>
            <a:ext cx="42481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SUS survey for the experimental group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E8B5547-2EDB-434B-9C5B-E41FBA98A0A3}"/>
              </a:ext>
            </a:extLst>
          </p:cNvPr>
          <p:cNvSpPr>
            <a:spLocks noGrp="1"/>
          </p:cNvSpPr>
          <p:nvPr/>
        </p:nvSpPr>
        <p:spPr>
          <a:xfrm>
            <a:off x="952500" y="3086100"/>
            <a:ext cx="95250" cy="9525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337C52-FA7C-47D3-B2BC-B3A310E55729}"/>
              </a:ext>
            </a:extLst>
          </p:cNvPr>
          <p:cNvSpPr>
            <a:spLocks noGrp="1"/>
          </p:cNvSpPr>
          <p:nvPr/>
        </p:nvSpPr>
        <p:spPr>
          <a:xfrm>
            <a:off x="1181100" y="3009900"/>
            <a:ext cx="42481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Grade A expected if the first hypothesis holds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729FCA5-E4FF-47C5-9DAC-85930051F641}"/>
              </a:ext>
            </a:extLst>
          </p:cNvPr>
          <p:cNvSpPr>
            <a:spLocks noGrp="1"/>
          </p:cNvSpPr>
          <p:nvPr/>
        </p:nvSpPr>
        <p:spPr>
          <a:xfrm>
            <a:off x="952500" y="3714750"/>
            <a:ext cx="95250" cy="9525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B65AC9-0A39-436B-A785-B043F6155AA7}"/>
              </a:ext>
            </a:extLst>
          </p:cNvPr>
          <p:cNvSpPr>
            <a:spLocks noGrp="1"/>
          </p:cNvSpPr>
          <p:nvPr/>
        </p:nvSpPr>
        <p:spPr>
          <a:xfrm>
            <a:off x="1181100" y="3638550"/>
            <a:ext cx="42481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Prototype SUS test with three WWU users: 95, 100, 92.5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="6191250" y="1847850"/>
          <a:ext cx="4476750" cy="285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E73904B9-3D02-45E9-B525-A09E0EC433AE}"/>
              </a:ext>
            </a:extLst>
          </p:cNvPr>
          <p:cNvSpPr>
            <a:spLocks noGrp="1"/>
          </p:cNvSpPr>
          <p:nvPr/>
        </p:nvSpPr>
        <p:spPr>
          <a:xfrm>
            <a:off x="819150" y="51625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59669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59669"/>
                </a:solidFill>
                <a:latin typeface="Aptos"/>
                <a:ea typeface="Aptos"/>
                <a:cs typeface="Aptos"/>
              </a:rPr>
              <a:t>Effectiveness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24E289A-7A54-4A79-8344-0B25CF89CF8A}"/>
              </a:ext>
            </a:extLst>
          </p:cNvPr>
          <p:cNvSpPr>
            <a:spLocks noGrp="1"/>
          </p:cNvSpPr>
          <p:nvPr/>
        </p:nvSpPr>
        <p:spPr>
          <a:xfrm>
            <a:off x="3143250" y="5200650"/>
            <a:ext cx="723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Quarter-end schedule-management survey scored out of 40; compare class-level averages and grand averages between control and experimental groups.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605ECA8-B025-4D83-8824-FE7CC7B80CCB}"/>
              </a:ext>
            </a:extLst>
          </p:cNvPr>
          <p:cNvSpPr>
            <a:spLocks noGrp="1"/>
          </p:cNvSpPr>
          <p:nvPr/>
        </p:nvSpPr>
        <p:spPr>
          <a:xfrm>
            <a:off x="11068050" y="62865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CA3A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108992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7D372266-11EA-421A-A6E3-26E345B4FF13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CLASSSYNC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7E992D5-09A2-4BA2-9270-1385B2082DC7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9525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Final Design and Implementation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45BC28-133E-415A-B376-3314E7242160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10972800" cy="952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82AC77-3666-4103-8BFD-4ECC50C020C2}"/>
              </a:ext>
            </a:extLst>
          </p:cNvPr>
          <p:cNvSpPr>
            <a:spLocks noGrp="1"/>
          </p:cNvSpPr>
          <p:nvPr/>
        </p:nvSpPr>
        <p:spPr>
          <a:xfrm>
            <a:off x="704850" y="1657350"/>
            <a:ext cx="9334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The repository's final software is a Chrome extension plus an instructional website.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A521C9E-C4D1-4E50-85A2-6738DA50EF53}"/>
              </a:ext>
            </a:extLst>
          </p:cNvPr>
          <p:cNvSpPr>
            <a:spLocks noGrp="1"/>
          </p:cNvSpPr>
          <p:nvPr/>
        </p:nvSpPr>
        <p:spPr>
          <a:xfrm>
            <a:off x="666750" y="2628900"/>
            <a:ext cx="2076450" cy="2095500"/>
          </a:xfrm>
          <a:prstGeom prst="roundRect">
            <a:avLst>
              <a:gd name="adj" fmla="val 3670"/>
            </a:avLst>
          </a:prstGeom>
          <a:solidFill>
            <a:srgbClr val="EFF6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359CFE-7133-469B-85AC-A23107526E59}"/>
              </a:ext>
            </a:extLst>
          </p:cNvPr>
          <p:cNvSpPr>
            <a:spLocks noGrp="1"/>
          </p:cNvSpPr>
          <p:nvPr/>
        </p:nvSpPr>
        <p:spPr>
          <a:xfrm>
            <a:off x="838200" y="2876550"/>
            <a:ext cx="381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569689-609D-4BD4-BF65-16CD675BCA23}"/>
              </a:ext>
            </a:extLst>
          </p:cNvPr>
          <p:cNvSpPr>
            <a:spLocks noGrp="1"/>
          </p:cNvSpPr>
          <p:nvPr/>
        </p:nvSpPr>
        <p:spPr>
          <a:xfrm>
            <a:off x="1257300" y="2914650"/>
            <a:ext cx="1295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Canvas token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4AAAF2B-6157-4E62-A26F-BEEFD9A843C5}"/>
              </a:ext>
            </a:extLst>
          </p:cNvPr>
          <p:cNvSpPr>
            <a:spLocks noGrp="1"/>
          </p:cNvSpPr>
          <p:nvPr/>
        </p:nvSpPr>
        <p:spPr>
          <a:xfrm>
            <a:off x="876300" y="3562350"/>
            <a:ext cx="16573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User saves a Canvas API token in local Chrome storage.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5BE17A-00B2-48D3-A7F0-CC5DE6C7DACE}"/>
              </a:ext>
            </a:extLst>
          </p:cNvPr>
          <p:cNvSpPr>
            <a:spLocks noGrp="1"/>
          </p:cNvSpPr>
          <p:nvPr/>
        </p:nvSpPr>
        <p:spPr>
          <a:xfrm>
            <a:off x="2838450" y="3409950"/>
            <a:ext cx="438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700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4EF70A3-B73F-425D-9360-A6E869C1E45A}"/>
              </a:ext>
            </a:extLst>
          </p:cNvPr>
          <p:cNvSpPr>
            <a:spLocks noGrp="1"/>
          </p:cNvSpPr>
          <p:nvPr/>
        </p:nvSpPr>
        <p:spPr>
          <a:xfrm>
            <a:off x="3276600" y="2628900"/>
            <a:ext cx="2076450" cy="2095500"/>
          </a:xfrm>
          <a:prstGeom prst="roundRect">
            <a:avLst>
              <a:gd name="adj" fmla="val 3670"/>
            </a:avLst>
          </a:prstGeom>
          <a:solidFill>
            <a:srgbClr val="ECFDF5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3118C74-EE77-40B9-B844-19C9F0464493}"/>
              </a:ext>
            </a:extLst>
          </p:cNvPr>
          <p:cNvSpPr>
            <a:spLocks noGrp="1"/>
          </p:cNvSpPr>
          <p:nvPr/>
        </p:nvSpPr>
        <p:spPr>
          <a:xfrm>
            <a:off x="3448050" y="2876550"/>
            <a:ext cx="381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059669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59669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62C77A-BC89-4463-81E4-0AA59CEB22DC}"/>
              </a:ext>
            </a:extLst>
          </p:cNvPr>
          <p:cNvSpPr>
            <a:spLocks noGrp="1"/>
          </p:cNvSpPr>
          <p:nvPr/>
        </p:nvSpPr>
        <p:spPr>
          <a:xfrm>
            <a:off x="3867150" y="2914650"/>
            <a:ext cx="1295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Worker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415507-8B64-4C59-8D4B-92D0EBB8B2D6}"/>
              </a:ext>
            </a:extLst>
          </p:cNvPr>
          <p:cNvSpPr>
            <a:spLocks noGrp="1"/>
          </p:cNvSpPr>
          <p:nvPr/>
        </p:nvSpPr>
        <p:spPr>
          <a:xfrm>
            <a:off x="3486150" y="3562350"/>
            <a:ext cx="16573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Service worker requests active courses and assignment calendar events from WWU Canvas.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A58065C-47A8-48FA-8389-1230A341BCF1}"/>
              </a:ext>
            </a:extLst>
          </p:cNvPr>
          <p:cNvSpPr>
            <a:spLocks noGrp="1"/>
          </p:cNvSpPr>
          <p:nvPr/>
        </p:nvSpPr>
        <p:spPr>
          <a:xfrm>
            <a:off x="5448300" y="3409950"/>
            <a:ext cx="438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700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0B99E8F-3486-45B1-964B-84489FD203AA}"/>
              </a:ext>
            </a:extLst>
          </p:cNvPr>
          <p:cNvSpPr>
            <a:spLocks noGrp="1"/>
          </p:cNvSpPr>
          <p:nvPr/>
        </p:nvSpPr>
        <p:spPr>
          <a:xfrm>
            <a:off x="5886450" y="2628900"/>
            <a:ext cx="2076450" cy="2095500"/>
          </a:xfrm>
          <a:prstGeom prst="roundRect">
            <a:avLst>
              <a:gd name="adj" fmla="val 3670"/>
            </a:avLst>
          </a:prstGeom>
          <a:solidFill>
            <a:srgbClr val="EFF6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4BD28CC-5430-4125-AFC9-4CDEBAE8E8BD}"/>
              </a:ext>
            </a:extLst>
          </p:cNvPr>
          <p:cNvSpPr>
            <a:spLocks noGrp="1"/>
          </p:cNvSpPr>
          <p:nvPr/>
        </p:nvSpPr>
        <p:spPr>
          <a:xfrm>
            <a:off x="6057900" y="2876550"/>
            <a:ext cx="381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51D8EB8-801F-4D80-AEFB-111E7647F37A}"/>
              </a:ext>
            </a:extLst>
          </p:cNvPr>
          <p:cNvSpPr>
            <a:spLocks noGrp="1"/>
          </p:cNvSpPr>
          <p:nvPr/>
        </p:nvSpPr>
        <p:spPr>
          <a:xfrm>
            <a:off x="6477000" y="2914650"/>
            <a:ext cx="1295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Popup UI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7DF0E7A-BE8F-454B-9722-6E643712C536}"/>
              </a:ext>
            </a:extLst>
          </p:cNvPr>
          <p:cNvSpPr>
            <a:spLocks noGrp="1"/>
          </p:cNvSpPr>
          <p:nvPr/>
        </p:nvSpPr>
        <p:spPr>
          <a:xfrm>
            <a:off x="6096000" y="3562350"/>
            <a:ext cx="16573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Popup lists upcoming events and handles sync/download actions.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C64F0FB-5DDE-4DCE-844C-5956786365CB}"/>
              </a:ext>
            </a:extLst>
          </p:cNvPr>
          <p:cNvSpPr>
            <a:spLocks noGrp="1"/>
          </p:cNvSpPr>
          <p:nvPr/>
        </p:nvSpPr>
        <p:spPr>
          <a:xfrm>
            <a:off x="8058150" y="3409950"/>
            <a:ext cx="438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700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40DBA27-B64E-4DCB-8FA6-10931A247E71}"/>
              </a:ext>
            </a:extLst>
          </p:cNvPr>
          <p:cNvSpPr>
            <a:spLocks noGrp="1"/>
          </p:cNvSpPr>
          <p:nvPr/>
        </p:nvSpPr>
        <p:spPr>
          <a:xfrm>
            <a:off x="8496300" y="2628900"/>
            <a:ext cx="2076450" cy="2095500"/>
          </a:xfrm>
          <a:prstGeom prst="roundRect">
            <a:avLst>
              <a:gd name="adj" fmla="val 3670"/>
            </a:avLst>
          </a:prstGeom>
          <a:solidFill>
            <a:srgbClr val="ECFDF5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3CDC39A-66B8-4C38-9182-9FAE077BDC04}"/>
              </a:ext>
            </a:extLst>
          </p:cNvPr>
          <p:cNvSpPr>
            <a:spLocks noGrp="1"/>
          </p:cNvSpPr>
          <p:nvPr/>
        </p:nvSpPr>
        <p:spPr>
          <a:xfrm>
            <a:off x="8667750" y="2876550"/>
            <a:ext cx="381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059669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59669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B62EE1E-A5B0-458B-A544-7C35A3B5D77B}"/>
              </a:ext>
            </a:extLst>
          </p:cNvPr>
          <p:cNvSpPr>
            <a:spLocks noGrp="1"/>
          </p:cNvSpPr>
          <p:nvPr/>
        </p:nvSpPr>
        <p:spPr>
          <a:xfrm>
            <a:off x="9086850" y="2914650"/>
            <a:ext cx="1295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.ics export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4B54CC1-DB74-4D93-B295-AE4827A28CA7}"/>
              </a:ext>
            </a:extLst>
          </p:cNvPr>
          <p:cNvSpPr>
            <a:spLocks noGrp="1"/>
          </p:cNvSpPr>
          <p:nvPr/>
        </p:nvSpPr>
        <p:spPr>
          <a:xfrm>
            <a:off x="8705850" y="3562350"/>
            <a:ext cx="16573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Events are converted into iCalendar text and downloaded as canvas_events.ics.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A29A527-F151-4728-BDC8-3438313D7F14}"/>
              </a:ext>
            </a:extLst>
          </p:cNvPr>
          <p:cNvSpPr>
            <a:spLocks noGrp="1"/>
          </p:cNvSpPr>
          <p:nvPr/>
        </p:nvSpPr>
        <p:spPr>
          <a:xfrm>
            <a:off x="1123950" y="5429250"/>
            <a:ext cx="9525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Implementation assets: Manifest V3 extension, popup.js, background.js, styling, icons, setup instructions, and demo video.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CF3CFF2-782D-42FC-8FA5-693FB7CA6D75}"/>
              </a:ext>
            </a:extLst>
          </p:cNvPr>
          <p:cNvSpPr>
            <a:spLocks noGrp="1"/>
          </p:cNvSpPr>
          <p:nvPr/>
        </p:nvSpPr>
        <p:spPr>
          <a:xfrm>
            <a:off x="11068050" y="62865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CA3AF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105231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230270BC-9FD5-460B-8122-DB994F3A0DF0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CLASSSYNC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BA4515B-A120-4C83-B324-A9A5115A22F2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9525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Changes From Prototype to Final Software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E2FD3B-02BD-469C-9046-8E05993EC8B0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10972800" cy="952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371B8C-4A0C-4788-8909-676CA56B75DF}"/>
              </a:ext>
            </a:extLst>
          </p:cNvPr>
          <p:cNvSpPr>
            <a:spLocks noGrp="1"/>
          </p:cNvSpPr>
          <p:nvPr/>
        </p:nvSpPr>
        <p:spPr>
          <a:xfrm>
            <a:off x="1066800" y="180975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97316"/>
                </a:solidFill>
                <a:latin typeface="Aptos"/>
                <a:ea typeface="Aptos"/>
                <a:cs typeface="Aptos"/>
              </a:rPr>
              <a:t>Prototype direction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06B087-2027-4303-9E82-637A5EA7FE9A}"/>
              </a:ext>
            </a:extLst>
          </p:cNvPr>
          <p:cNvSpPr>
            <a:spLocks noGrp="1"/>
          </p:cNvSpPr>
          <p:nvPr/>
        </p:nvSpPr>
        <p:spPr>
          <a:xfrm>
            <a:off x="7124700" y="180975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Final implementation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2D8AF05-D633-4A8F-8EAF-35ADA9B81926}"/>
              </a:ext>
            </a:extLst>
          </p:cNvPr>
          <p:cNvSpPr>
            <a:spLocks noGrp="1"/>
          </p:cNvSpPr>
          <p:nvPr/>
        </p:nvSpPr>
        <p:spPr>
          <a:xfrm>
            <a:off x="781050" y="2400300"/>
            <a:ext cx="4343400" cy="2724150"/>
          </a:xfrm>
          <a:prstGeom prst="roundRect">
            <a:avLst>
              <a:gd name="adj" fmla="val 2797"/>
            </a:avLst>
          </a:prstGeom>
          <a:solidFill>
            <a:srgbClr val="FFF7ED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272719D-4122-4CEA-98E5-CAC11FE42B39}"/>
              </a:ext>
            </a:extLst>
          </p:cNvPr>
          <p:cNvSpPr>
            <a:spLocks noGrp="1"/>
          </p:cNvSpPr>
          <p:nvPr/>
        </p:nvSpPr>
        <p:spPr>
          <a:xfrm>
            <a:off x="7067550" y="2400300"/>
            <a:ext cx="4343400" cy="2724150"/>
          </a:xfrm>
          <a:prstGeom prst="roundRect">
            <a:avLst>
              <a:gd name="adj" fmla="val 2797"/>
            </a:avLst>
          </a:prstGeom>
          <a:solidFill>
            <a:srgbClr val="EFF6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84AD92B-9CC0-4CAC-AEE8-BFDFA5381A6E}"/>
              </a:ext>
            </a:extLst>
          </p:cNvPr>
          <p:cNvSpPr>
            <a:spLocks noGrp="1"/>
          </p:cNvSpPr>
          <p:nvPr/>
        </p:nvSpPr>
        <p:spPr>
          <a:xfrm>
            <a:off x="1104900" y="2800350"/>
            <a:ext cx="95250" cy="9525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4214E9-36CE-43E1-8144-2FB057E3491B}"/>
              </a:ext>
            </a:extLst>
          </p:cNvPr>
          <p:cNvSpPr>
            <a:spLocks noGrp="1"/>
          </p:cNvSpPr>
          <p:nvPr/>
        </p:nvSpPr>
        <p:spPr>
          <a:xfrm>
            <a:off x="1333500" y="2724150"/>
            <a:ext cx="3295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Single-page web app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3AB7E7F-975D-40F4-A3D8-911DB5F913CC}"/>
              </a:ext>
            </a:extLst>
          </p:cNvPr>
          <p:cNvSpPr>
            <a:spLocks noGrp="1"/>
          </p:cNvSpPr>
          <p:nvPr/>
        </p:nvSpPr>
        <p:spPr>
          <a:xfrm>
            <a:off x="1104900" y="3238500"/>
            <a:ext cx="95250" cy="9525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9D35DA3-2C6D-4CFE-A926-1D22945F01EE}"/>
              </a:ext>
            </a:extLst>
          </p:cNvPr>
          <p:cNvSpPr>
            <a:spLocks noGrp="1"/>
          </p:cNvSpPr>
          <p:nvPr/>
        </p:nvSpPr>
        <p:spPr>
          <a:xfrm>
            <a:off x="1333500" y="3162300"/>
            <a:ext cx="3295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Upload Web4U schedule PDF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12D9BE3-7DC3-491A-BA1E-CCB29DABEFB7}"/>
              </a:ext>
            </a:extLst>
          </p:cNvPr>
          <p:cNvSpPr>
            <a:spLocks noGrp="1"/>
          </p:cNvSpPr>
          <p:nvPr/>
        </p:nvSpPr>
        <p:spPr>
          <a:xfrm>
            <a:off x="1104900" y="3676650"/>
            <a:ext cx="95250" cy="9525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03E072-314E-4257-8A1A-2F2837B8E59B}"/>
              </a:ext>
            </a:extLst>
          </p:cNvPr>
          <p:cNvSpPr>
            <a:spLocks noGrp="1"/>
          </p:cNvSpPr>
          <p:nvPr/>
        </p:nvSpPr>
        <p:spPr>
          <a:xfrm>
            <a:off x="1333500" y="3600450"/>
            <a:ext cx="3295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Parse class meetings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B68694C-A169-423B-A139-626CB24C6C82}"/>
              </a:ext>
            </a:extLst>
          </p:cNvPr>
          <p:cNvSpPr>
            <a:spLocks noGrp="1"/>
          </p:cNvSpPr>
          <p:nvPr/>
        </p:nvSpPr>
        <p:spPr>
          <a:xfrm>
            <a:off x="1104900" y="4114800"/>
            <a:ext cx="95250" cy="9525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3954A9-560A-41F3-8630-E63B56687D35}"/>
              </a:ext>
            </a:extLst>
          </p:cNvPr>
          <p:cNvSpPr>
            <a:spLocks noGrp="1"/>
          </p:cNvSpPr>
          <p:nvPr/>
        </p:nvSpPr>
        <p:spPr>
          <a:xfrm>
            <a:off x="1333500" y="4038600"/>
            <a:ext cx="3295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Download generated .ics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EFC8D1C-951C-4AC1-B97C-61F0B1D4C8E9}"/>
              </a:ext>
            </a:extLst>
          </p:cNvPr>
          <p:cNvSpPr>
            <a:spLocks noGrp="1"/>
          </p:cNvSpPr>
          <p:nvPr/>
        </p:nvSpPr>
        <p:spPr>
          <a:xfrm>
            <a:off x="1104900" y="4552950"/>
            <a:ext cx="95250" cy="9525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1870F88-CE50-454C-B175-EAA682B1A4E7}"/>
              </a:ext>
            </a:extLst>
          </p:cNvPr>
          <p:cNvSpPr>
            <a:spLocks noGrp="1"/>
          </p:cNvSpPr>
          <p:nvPr/>
        </p:nvSpPr>
        <p:spPr>
          <a:xfrm>
            <a:off x="1333500" y="4476750"/>
            <a:ext cx="3295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Calendar preview planned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757A270-7376-48F9-8647-3C320A068659}"/>
              </a:ext>
            </a:extLst>
          </p:cNvPr>
          <p:cNvSpPr>
            <a:spLocks noGrp="1"/>
          </p:cNvSpPr>
          <p:nvPr/>
        </p:nvSpPr>
        <p:spPr>
          <a:xfrm>
            <a:off x="7391400" y="2800350"/>
            <a:ext cx="95250" cy="9525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2B91DE5-9066-447E-966F-42CF494FE9F4}"/>
              </a:ext>
            </a:extLst>
          </p:cNvPr>
          <p:cNvSpPr>
            <a:spLocks noGrp="1"/>
          </p:cNvSpPr>
          <p:nvPr/>
        </p:nvSpPr>
        <p:spPr>
          <a:xfrm>
            <a:off x="7620000" y="2724150"/>
            <a:ext cx="3295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Chrome extension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A45A923-FD07-464F-B5D1-B2AE6BBF60A6}"/>
              </a:ext>
            </a:extLst>
          </p:cNvPr>
          <p:cNvSpPr>
            <a:spLocks noGrp="1"/>
          </p:cNvSpPr>
          <p:nvPr/>
        </p:nvSpPr>
        <p:spPr>
          <a:xfrm>
            <a:off x="7391400" y="3238500"/>
            <a:ext cx="95250" cy="9525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2957FB6-9B01-4F57-B84C-FB2A4DEF649B}"/>
              </a:ext>
            </a:extLst>
          </p:cNvPr>
          <p:cNvSpPr>
            <a:spLocks noGrp="1"/>
          </p:cNvSpPr>
          <p:nvPr/>
        </p:nvSpPr>
        <p:spPr>
          <a:xfrm>
            <a:off x="7620000" y="3162300"/>
            <a:ext cx="3295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Use Canvas API token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6442C44-5306-4ADF-83EE-97DE21309008}"/>
              </a:ext>
            </a:extLst>
          </p:cNvPr>
          <p:cNvSpPr>
            <a:spLocks noGrp="1"/>
          </p:cNvSpPr>
          <p:nvPr/>
        </p:nvSpPr>
        <p:spPr>
          <a:xfrm>
            <a:off x="7391400" y="3676650"/>
            <a:ext cx="95250" cy="9525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33B8E01-68BF-4CD3-A663-CDE0B2188443}"/>
              </a:ext>
            </a:extLst>
          </p:cNvPr>
          <p:cNvSpPr>
            <a:spLocks noGrp="1"/>
          </p:cNvSpPr>
          <p:nvPr/>
        </p:nvSpPr>
        <p:spPr>
          <a:xfrm>
            <a:off x="7620000" y="3600450"/>
            <a:ext cx="3295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Fetch assignment calendar events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42212A4-024D-4746-AAF2-AF96EB79F581}"/>
              </a:ext>
            </a:extLst>
          </p:cNvPr>
          <p:cNvSpPr>
            <a:spLocks noGrp="1"/>
          </p:cNvSpPr>
          <p:nvPr/>
        </p:nvSpPr>
        <p:spPr>
          <a:xfrm>
            <a:off x="7391400" y="4114800"/>
            <a:ext cx="95250" cy="9525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A78592A-FEB2-429A-A925-01521C59655F}"/>
              </a:ext>
            </a:extLst>
          </p:cNvPr>
          <p:cNvSpPr>
            <a:spLocks noGrp="1"/>
          </p:cNvSpPr>
          <p:nvPr/>
        </p:nvSpPr>
        <p:spPr>
          <a:xfrm>
            <a:off x="7620000" y="4038600"/>
            <a:ext cx="3295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Show synced events in popup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3666EF0-E9B9-43FC-8905-CB528620C4A2}"/>
              </a:ext>
            </a:extLst>
          </p:cNvPr>
          <p:cNvSpPr>
            <a:spLocks noGrp="1"/>
          </p:cNvSpPr>
          <p:nvPr/>
        </p:nvSpPr>
        <p:spPr>
          <a:xfrm>
            <a:off x="7391400" y="4552950"/>
            <a:ext cx="95250" cy="9525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3EDC3AA-04ED-4BF1-B5D6-B390592FC5B4}"/>
              </a:ext>
            </a:extLst>
          </p:cNvPr>
          <p:cNvSpPr>
            <a:spLocks noGrp="1"/>
          </p:cNvSpPr>
          <p:nvPr/>
        </p:nvSpPr>
        <p:spPr>
          <a:xfrm>
            <a:off x="7620000" y="4476750"/>
            <a:ext cx="3295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Download .ics from live Canvas data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7038BD0-0FB8-4DA4-B954-894ECA96D42A}"/>
              </a:ext>
            </a:extLst>
          </p:cNvPr>
          <p:cNvSpPr>
            <a:spLocks noGrp="1"/>
          </p:cNvSpPr>
          <p:nvPr/>
        </p:nvSpPr>
        <p:spPr>
          <a:xfrm>
            <a:off x="5257800" y="3048000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Key shift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41E3B7E-BFAB-4F8C-AF8A-8EE404686578}"/>
              </a:ext>
            </a:extLst>
          </p:cNvPr>
          <p:cNvSpPr>
            <a:spLocks noGrp="1"/>
          </p:cNvSpPr>
          <p:nvPr/>
        </p:nvSpPr>
        <p:spPr>
          <a:xfrm>
            <a:off x="5219700" y="3486150"/>
            <a:ext cx="16573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From file parsing toward API-based calendar sync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255393F-B52E-4B8F-9533-37AC7F49D406}"/>
              </a:ext>
            </a:extLst>
          </p:cNvPr>
          <p:cNvSpPr>
            <a:spLocks noGrp="1"/>
          </p:cNvSpPr>
          <p:nvPr/>
        </p:nvSpPr>
        <p:spPr>
          <a:xfrm>
            <a:off x="11068050" y="62865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CA3AF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991788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68ECBB84-9712-459C-BD1A-235A2B49C8EE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CLASSSYNC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F53ECC9-EB6C-43BF-8CF5-13B5C62C903F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9525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Experiment Design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EEA1C39-BFA6-4A96-9379-291E046A22BE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10972800" cy="952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AF6DE5-CA40-4070-A759-59C92C801C62}"/>
              </a:ext>
            </a:extLst>
          </p:cNvPr>
          <p:cNvSpPr>
            <a:spLocks noGrp="1"/>
          </p:cNvSpPr>
          <p:nvPr/>
        </p:nvSpPr>
        <p:spPr>
          <a:xfrm>
            <a:off x="742950" y="173355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Two hypotheses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C2E7002-B776-46AB-B26B-792C9F191996}"/>
              </a:ext>
            </a:extLst>
          </p:cNvPr>
          <p:cNvSpPr>
            <a:spLocks noGrp="1"/>
          </p:cNvSpPr>
          <p:nvPr/>
        </p:nvSpPr>
        <p:spPr>
          <a:xfrm>
            <a:off x="876300" y="2343150"/>
            <a:ext cx="95250" cy="9525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0F3124-AC73-42E9-AB19-8A81A4DBD192}"/>
              </a:ext>
            </a:extLst>
          </p:cNvPr>
          <p:cNvSpPr>
            <a:spLocks noGrp="1"/>
          </p:cNvSpPr>
          <p:nvPr/>
        </p:nvSpPr>
        <p:spPr>
          <a:xfrm>
            <a:off x="1104900" y="2266950"/>
            <a:ext cx="4724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WWU students are satisfied with ClassSync's usability.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86160A9-258B-40DB-AA63-C4FF2E038A06}"/>
              </a:ext>
            </a:extLst>
          </p:cNvPr>
          <p:cNvSpPr>
            <a:spLocks noGrp="1"/>
          </p:cNvSpPr>
          <p:nvPr/>
        </p:nvSpPr>
        <p:spPr>
          <a:xfrm>
            <a:off x="876300" y="3009900"/>
            <a:ext cx="95250" cy="9525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FA9014C-52FE-4CED-A0E3-5A86F6340186}"/>
              </a:ext>
            </a:extLst>
          </p:cNvPr>
          <p:cNvSpPr>
            <a:spLocks noGrp="1"/>
          </p:cNvSpPr>
          <p:nvPr/>
        </p:nvSpPr>
        <p:spPr>
          <a:xfrm>
            <a:off x="1104900" y="2933700"/>
            <a:ext cx="4724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ClassSync improves efficiency in schedule management.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9913B54-8C9D-47DE-84A5-1354CA5974BD}"/>
              </a:ext>
            </a:extLst>
          </p:cNvPr>
          <p:cNvSpPr>
            <a:spLocks noGrp="1"/>
          </p:cNvSpPr>
          <p:nvPr/>
        </p:nvSpPr>
        <p:spPr>
          <a:xfrm>
            <a:off x="6572250" y="1695450"/>
            <a:ext cx="4095750" cy="3429000"/>
          </a:xfrm>
          <a:prstGeom prst="roundRect">
            <a:avLst>
              <a:gd name="adj" fmla="val 2222"/>
            </a:avLst>
          </a:prstGeom>
          <a:solidFill>
            <a:srgbClr val="ECFDF5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5B09C5-B3FD-491D-970C-ED5187D549E0}"/>
              </a:ext>
            </a:extLst>
          </p:cNvPr>
          <p:cNvSpPr>
            <a:spLocks noGrp="1"/>
          </p:cNvSpPr>
          <p:nvPr/>
        </p:nvSpPr>
        <p:spPr>
          <a:xfrm>
            <a:off x="6896100" y="205740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59669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59669"/>
                </a:solidFill>
                <a:latin typeface="Aptos"/>
                <a:ea typeface="Aptos"/>
                <a:cs typeface="Aptos"/>
              </a:rPr>
              <a:t>Study structure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F4CB6EB-3694-4301-A2D1-9CCEE1C77D69}"/>
              </a:ext>
            </a:extLst>
          </p:cNvPr>
          <p:cNvSpPr>
            <a:spLocks noGrp="1"/>
          </p:cNvSpPr>
          <p:nvPr/>
        </p:nvSpPr>
        <p:spPr>
          <a:xfrm>
            <a:off x="6953250" y="2724150"/>
            <a:ext cx="95250" cy="9525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79EE75D-442D-4236-A665-C43ED30E39FB}"/>
              </a:ext>
            </a:extLst>
          </p:cNvPr>
          <p:cNvSpPr>
            <a:spLocks noGrp="1"/>
          </p:cNvSpPr>
          <p:nvPr/>
        </p:nvSpPr>
        <p:spPr>
          <a:xfrm>
            <a:off x="7181850" y="2647950"/>
            <a:ext cx="2914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Longitudinal study across one academic year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3483B24-BC75-4F6F-B4B7-F4B89703A13F}"/>
              </a:ext>
            </a:extLst>
          </p:cNvPr>
          <p:cNvSpPr>
            <a:spLocks noGrp="1"/>
          </p:cNvSpPr>
          <p:nvPr/>
        </p:nvSpPr>
        <p:spPr>
          <a:xfrm>
            <a:off x="6953250" y="3276600"/>
            <a:ext cx="95250" cy="9525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BAC06A6-6D07-4189-9E38-DDE54F8DAB17}"/>
              </a:ext>
            </a:extLst>
          </p:cNvPr>
          <p:cNvSpPr>
            <a:spLocks noGrp="1"/>
          </p:cNvSpPr>
          <p:nvPr/>
        </p:nvSpPr>
        <p:spPr>
          <a:xfrm>
            <a:off x="7181850" y="3200400"/>
            <a:ext cx="2914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Stratified random sampling by class level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E857732-5C71-4123-9905-506E1EE3E4FC}"/>
              </a:ext>
            </a:extLst>
          </p:cNvPr>
          <p:cNvSpPr>
            <a:spLocks noGrp="1"/>
          </p:cNvSpPr>
          <p:nvPr/>
        </p:nvSpPr>
        <p:spPr>
          <a:xfrm>
            <a:off x="6953250" y="3829050"/>
            <a:ext cx="95250" cy="9525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B5C8DF8-167C-44E1-8B6B-9F843308F7BA}"/>
              </a:ext>
            </a:extLst>
          </p:cNvPr>
          <p:cNvSpPr>
            <a:spLocks noGrp="1"/>
          </p:cNvSpPr>
          <p:nvPr/>
        </p:nvSpPr>
        <p:spPr>
          <a:xfrm>
            <a:off x="7181850" y="3752850"/>
            <a:ext cx="2914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250 full-time WWU students total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A1F5C90-77E1-4FDB-8B77-5E730F6C27DD}"/>
              </a:ext>
            </a:extLst>
          </p:cNvPr>
          <p:cNvSpPr>
            <a:spLocks noGrp="1"/>
          </p:cNvSpPr>
          <p:nvPr/>
        </p:nvSpPr>
        <p:spPr>
          <a:xfrm>
            <a:off x="6953250" y="4381500"/>
            <a:ext cx="95250" cy="9525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D515008-B2E0-4A93-BA91-980C6D32F8C0}"/>
              </a:ext>
            </a:extLst>
          </p:cNvPr>
          <p:cNvSpPr>
            <a:spLocks noGrp="1"/>
          </p:cNvSpPr>
          <p:nvPr/>
        </p:nvSpPr>
        <p:spPr>
          <a:xfrm>
            <a:off x="7181850" y="4305300"/>
            <a:ext cx="2914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Between-subjects comparison: ClassSync vs. current tools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D07CCC3-393F-4E38-A601-C2F1555F1F36}"/>
              </a:ext>
            </a:extLst>
          </p:cNvPr>
          <p:cNvSpPr>
            <a:spLocks noGrp="1"/>
          </p:cNvSpPr>
          <p:nvPr/>
        </p:nvSpPr>
        <p:spPr>
          <a:xfrm>
            <a:off x="11068050" y="62865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CA3AF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292786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EB29FE9-479C-8017-800E-1F341B45D817}"/>
              </a:ext>
            </a:extLst>
          </p:cNvPr>
          <p:cNvSpPr>
            <a:spLocks noGrp="1"/>
          </p:cNvSpPr>
          <p:nvPr/>
        </p:nvSpPr>
        <p:spPr>
          <a:xfrm>
            <a:off x="5040993" y="2240644"/>
            <a:ext cx="5744028" cy="3152321"/>
          </a:xfrm>
          <a:prstGeom prst="roundRect">
            <a:avLst>
              <a:gd name="adj" fmla="val 2797"/>
            </a:avLst>
          </a:prstGeom>
          <a:solidFill>
            <a:srgbClr val="FFF7ED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D62369E-BD6F-4D62-A16C-79A52CDF6E57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CLASSSYNC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D755BFC-36CF-4808-B8A9-97C5F5FF7B27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9525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30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Evaluation and</a:t>
            </a:r>
            <a:r>
              <a:rPr lang="en-US" sz="30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 Conclusion</a:t>
            </a:r>
            <a:endParaRPr sz="3000" b="1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B51619-E134-4C3F-96DD-66069F7E3211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10972800" cy="952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05FD11-049E-4620-BB6C-488BB25766D8}"/>
              </a:ext>
            </a:extLst>
          </p:cNvPr>
          <p:cNvSpPr>
            <a:spLocks noGrp="1"/>
          </p:cNvSpPr>
          <p:nvPr/>
        </p:nvSpPr>
        <p:spPr>
          <a:xfrm>
            <a:off x="570593" y="1553936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21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endParaRPr lang="en-US" sz="2400" dirty="0">
              <a:solidFill>
                <a:srgbClr val="F97316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5AF7B8B-19AE-47E5-AD3F-C04A5E78087C}"/>
              </a:ext>
            </a:extLst>
          </p:cNvPr>
          <p:cNvSpPr>
            <a:spLocks noGrp="1"/>
          </p:cNvSpPr>
          <p:nvPr/>
        </p:nvSpPr>
        <p:spPr>
          <a:xfrm>
            <a:off x="5372100" y="2622550"/>
            <a:ext cx="95250" cy="9525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D8B106-7DD2-4A1D-9D50-551E1626269C}"/>
              </a:ext>
            </a:extLst>
          </p:cNvPr>
          <p:cNvSpPr>
            <a:spLocks noGrp="1"/>
          </p:cNvSpPr>
          <p:nvPr/>
        </p:nvSpPr>
        <p:spPr>
          <a:xfrm>
            <a:off x="5600700" y="2502808"/>
            <a:ext cx="5105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Students want fewer disconnected schedule surfaces.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3DABB16-471E-4708-97D3-0E2ADC5F4E57}"/>
              </a:ext>
            </a:extLst>
          </p:cNvPr>
          <p:cNvSpPr>
            <a:spLocks noGrp="1"/>
          </p:cNvSpPr>
          <p:nvPr/>
        </p:nvSpPr>
        <p:spPr>
          <a:xfrm>
            <a:off x="5372100" y="3067050"/>
            <a:ext cx="95250" cy="9525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A34B01-8C09-419C-B8E5-15950BA4CCEB}"/>
              </a:ext>
            </a:extLst>
          </p:cNvPr>
          <p:cNvSpPr>
            <a:spLocks noGrp="1"/>
          </p:cNvSpPr>
          <p:nvPr/>
        </p:nvSpPr>
        <p:spPr>
          <a:xfrm>
            <a:off x="5600700" y="2896507"/>
            <a:ext cx="5105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The prototype tested very well for perceived usability with all A-grade SUS results.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3D8E29D-A395-461E-9CCA-7B7C8EDB8DDA}"/>
              </a:ext>
            </a:extLst>
          </p:cNvPr>
          <p:cNvSpPr>
            <a:spLocks noGrp="1"/>
          </p:cNvSpPr>
          <p:nvPr/>
        </p:nvSpPr>
        <p:spPr>
          <a:xfrm>
            <a:off x="5372100" y="3714750"/>
            <a:ext cx="95250" cy="9525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BFF5712-C7CB-4D3D-AF4D-0C9D0D3F8E7A}"/>
              </a:ext>
            </a:extLst>
          </p:cNvPr>
          <p:cNvSpPr>
            <a:spLocks noGrp="1"/>
          </p:cNvSpPr>
          <p:nvPr/>
        </p:nvSpPr>
        <p:spPr>
          <a:xfrm>
            <a:off x="5600700" y="3507921"/>
            <a:ext cx="5105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en-US" sz="150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Experiment to be conducted, which will test long-</a:t>
            </a:r>
            <a:r>
              <a:rPr lang="en-US" sz="1500">
                <a:solidFill>
                  <a:srgbClr val="111827"/>
                </a:solidFill>
                <a:latin typeface="Aptos"/>
                <a:ea typeface="Aptos"/>
                <a:cs typeface="Aptos"/>
              </a:rPr>
              <a:t>term schedule</a:t>
            </a:r>
            <a:r>
              <a:rPr lang="en-US" sz="150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-management </a:t>
            </a:r>
            <a:r>
              <a:rPr lang="en-US" sz="1500">
                <a:solidFill>
                  <a:srgbClr val="111827"/>
                </a:solidFill>
                <a:latin typeface="Aptos"/>
                <a:ea typeface="Aptos"/>
                <a:cs typeface="Aptos"/>
              </a:rPr>
              <a:t>impact</a:t>
            </a:r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AC1288D-4A9C-48A1-8254-72A9006729F0}"/>
              </a:ext>
            </a:extLst>
          </p:cNvPr>
          <p:cNvSpPr>
            <a:spLocks noGrp="1"/>
          </p:cNvSpPr>
          <p:nvPr/>
        </p:nvSpPr>
        <p:spPr>
          <a:xfrm>
            <a:off x="5372100" y="4362450"/>
            <a:ext cx="95250" cy="9525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004E7F-AEA8-4B09-B769-A91045F59CE4}"/>
              </a:ext>
            </a:extLst>
          </p:cNvPr>
          <p:cNvSpPr>
            <a:spLocks noGrp="1"/>
          </p:cNvSpPr>
          <p:nvPr/>
        </p:nvSpPr>
        <p:spPr>
          <a:xfrm>
            <a:off x="5600700" y="4155621"/>
            <a:ext cx="5105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Future work should reconcile Web4U class schedules, Canvas assignment events, and Outlook/Google/iCalendar import into one stable flow.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6382F8C-2139-4250-B13D-C79B0E970476}"/>
              </a:ext>
            </a:extLst>
          </p:cNvPr>
          <p:cNvSpPr>
            <a:spLocks noGrp="1"/>
          </p:cNvSpPr>
          <p:nvPr/>
        </p:nvSpPr>
        <p:spPr>
          <a:xfrm>
            <a:off x="876300" y="5734050"/>
            <a:ext cx="9906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algn="ctr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en-US" sz="1650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Conclusion</a:t>
            </a:r>
            <a:r>
              <a:rPr sz="1650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: </a:t>
            </a:r>
            <a:r>
              <a:rPr sz="1650" b="1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ClassSync</a:t>
            </a:r>
            <a:r>
              <a:rPr sz="1650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is most valuable when it turns scattered academic schedule data into a portable calendar students already trust.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B5A15D8-14A9-480F-82DF-5D32F519E4BF}"/>
              </a:ext>
            </a:extLst>
          </p:cNvPr>
          <p:cNvSpPr>
            <a:spLocks noGrp="1"/>
          </p:cNvSpPr>
          <p:nvPr/>
        </p:nvSpPr>
        <p:spPr>
          <a:xfrm>
            <a:off x="11068050" y="62865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CA3AF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D07BAD9-0120-ECC0-AD7B-326FCAC19E39}"/>
              </a:ext>
            </a:extLst>
          </p:cNvPr>
          <p:cNvSpPr txBox="1"/>
          <p:nvPr/>
        </p:nvSpPr>
        <p:spPr>
          <a:xfrm>
            <a:off x="5042651" y="1649966"/>
            <a:ext cx="324300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rgbClr val="F97316"/>
                </a:solidFill>
                <a:latin typeface="Aptos"/>
              </a:rPr>
              <a:t>Evaluation</a:t>
            </a:r>
            <a:endParaRPr lang="en-US" sz="2400"/>
          </a:p>
        </p:txBody>
      </p:sp>
      <p:pic>
        <p:nvPicPr>
          <p:cNvPr id="19" name="Picture 18" descr="A blue arrow pointing to a set of stairs&#10;&#10;AI-generated content may be incorrect.">
            <a:extLst>
              <a:ext uri="{FF2B5EF4-FFF2-40B4-BE49-F238E27FC236}">
                <a16:creationId xmlns:a16="http://schemas.microsoft.com/office/drawing/2014/main" id="{D9B6F22A-2288-A1B5-3899-7EF9C6E1D5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" y="1698171"/>
            <a:ext cx="3686629" cy="3693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03223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DocSecurity>0</DocSecurity>
  <PresentationFormat>Widescreen</PresentationFormat>
  <Slides>11</Slides>
  <Notes>11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Walnut Exporter</cp:lastModifiedBy>
  <cp:revision>66</cp:revision>
  <dcterms:created xsi:type="dcterms:W3CDTF">2026-06-29T23:40:05Z</dcterms:created>
  <dcterms:modified xsi:type="dcterms:W3CDTF">2026-06-30T02:24:00Z</dcterms:modified>
</cp:coreProperties>
</file>